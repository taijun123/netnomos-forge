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61" r:id="rId5"/>
    <p:sldId id="267" r:id="rId6"/>
    <p:sldId id="271" r:id="rId7"/>
    <p:sldId id="269" r:id="rId9"/>
    <p:sldId id="259" r:id="rId10"/>
    <p:sldId id="270" r:id="rId11"/>
    <p:sldId id="272" r:id="rId12"/>
    <p:sldId id="262" r:id="rId13"/>
    <p:sldId id="260" r:id="rId14"/>
    <p:sldId id="264" r:id="rId15"/>
    <p:sldId id="266" r:id="rId16"/>
  </p:sldIdLst>
  <p:sldSz cx="12191365" cy="6858000" type="screen4x3"/>
  <p:notesSz cx="6858000" cy="9144000"/>
  <p:embeddedFontLst>
    <p:embeddedFont>
      <p:font typeface="Calibri" panose="020F0502020204030204"/>
      <p:regular r:id="rId20"/>
    </p:embeddedFont>
    <p:embeddedFont>
      <p:font typeface="阿里妈妈数黑体" charset="-122"/>
      <p:regular r:id="rId21"/>
    </p:embeddedFont>
    <p:embeddedFont>
      <p:font typeface="阿里巴巴普惠体 2.0" panose="00020600040101010101" charset="-12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4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cs typeface="+mj-lt"/>
            </a:endParaRPr>
          </a:p>
        </p:txBody>
      </p:sp>
      <p:sp>
        <p:nvSpPr>
          <p:cNvPr id="3" name="Oval 2"/>
          <p:cNvSpPr/>
          <p:nvPr/>
        </p:nvSpPr>
        <p:spPr>
          <a:xfrm>
            <a:off x="6096000" y="-2637155"/>
            <a:ext cx="8591550" cy="8591550"/>
          </a:xfrm>
          <a:prstGeom prst="ellipse">
            <a:avLst/>
          </a:prstGeom>
          <a:solidFill>
            <a:srgbClr val="9333EA">
              <a:alpha val="22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DC2626">
              <a:alpha val="18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9470" y="13716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ea typeface="阿里妈妈数黑体" charset="-122"/>
              <a:cs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49470" y="1471549"/>
            <a:ext cx="329184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i="0">
                <a:solidFill>
                  <a:srgbClr val="C4B5FD"/>
                </a:solidFill>
                <a:latin typeface="+mj-lt"/>
                <a:ea typeface="阿里妈妈数黑体" charset="-122"/>
                <a:cs typeface="+mj-lt"/>
              </a:rPr>
              <a:t>NetNomous-forge · 规则即决策的AI约束层</a:t>
            </a:r>
            <a:endParaRPr sz="1200" i="0">
              <a:solidFill>
                <a:srgbClr val="C4B5FD"/>
              </a:solidFill>
              <a:latin typeface="+mj-lt"/>
              <a:ea typeface="阿里妈妈数黑体" charset="-122"/>
              <a:cs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2895" cy="1910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sz="5400">
                <a:solidFill>
                  <a:srgbClr val="FFFFFF"/>
                </a:solidFill>
                <a:latin typeface="+mj-lt"/>
                <a:ea typeface="阿里妈妈数黑体" charset="-122"/>
                <a:cs typeface="+mj-lt"/>
              </a:rPr>
              <a:t>用规则约束</a:t>
            </a:r>
            <a:r>
              <a:rPr lang="en-US" altLang="zh-CN" sz="5400" b="1">
                <a:solidFill>
                  <a:srgbClr val="FFFFFF"/>
                </a:solidFill>
                <a:latin typeface="+mj-lt"/>
                <a:ea typeface="阿里妈妈数黑体" charset="-122"/>
                <a:cs typeface="+mj-lt"/>
              </a:rPr>
              <a:t>AI</a:t>
            </a:r>
            <a:endParaRPr sz="5400" b="1">
              <a:solidFill>
                <a:srgbClr val="FFFFFF"/>
              </a:solidFill>
              <a:latin typeface="+mj-lt"/>
              <a:ea typeface="阿里妈妈数黑体" charset="-122"/>
              <a:cs typeface="+mj-lt"/>
            </a:endParaRPr>
          </a:p>
          <a:p>
            <a:pPr algn="ctr">
              <a:lnSpc>
                <a:spcPct val="115000"/>
              </a:lnSpc>
            </a:pPr>
            <a:r>
              <a:rPr lang="zh-CN" altLang="en-US" sz="5400">
                <a:solidFill>
                  <a:srgbClr val="EC4899"/>
                </a:solidFill>
                <a:latin typeface="+mj-lt"/>
                <a:ea typeface="阿里妈妈数黑体" charset="-122"/>
                <a:cs typeface="+mj-lt"/>
              </a:rPr>
              <a:t>让每一次生成都可信</a:t>
            </a:r>
            <a:endParaRPr lang="zh-CN" altLang="en-US" sz="5400">
              <a:solidFill>
                <a:srgbClr val="EC4899"/>
              </a:solidFill>
              <a:latin typeface="+mj-lt"/>
              <a:ea typeface="阿里妈妈数黑体" charset="-122"/>
              <a:cs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4266565"/>
            <a:ext cx="9448495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i="0">
                <a:solidFill>
                  <a:srgbClr val="9AA3B8"/>
                </a:solidFill>
                <a:latin typeface="+mj-lt"/>
                <a:ea typeface="阿里妈妈数黑体" charset="-122"/>
                <a:cs typeface="+mj-lt"/>
              </a:rPr>
              <a:t>面向高精确度场景的 LLM 输出约束层 —— 在生成阶段，用规则替模型把关每一次结果</a:t>
            </a:r>
            <a:endParaRPr sz="1600" i="0">
              <a:solidFill>
                <a:srgbClr val="9AA3B8"/>
              </a:solidFill>
              <a:latin typeface="+mj-lt"/>
              <a:ea typeface="阿里妈妈数黑体" charset="-122"/>
              <a:cs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944849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bg1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项目文档 · SoloVerse · Agent 元宇宙黑客松挑战赛</a:t>
            </a:r>
            <a:endParaRPr sz="1200" b="1" i="0">
              <a:solidFill>
                <a:schemeClr val="bg1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6172200"/>
            <a:ext cx="944849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bg1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+mj-lt"/>
              </a:rPr>
              <a:t>2026.06</a:t>
            </a:r>
            <a:endParaRPr sz="1200" b="1" i="0">
              <a:solidFill>
                <a:schemeClr val="bg1"/>
              </a:solidFill>
              <a:latin typeface="阿里巴巴普惠体 2.0" panose="00020600040101010101" charset="-122"/>
              <a:ea typeface="阿里巴巴普惠体 2.0" panose="00020600040101010101" charset="-122"/>
              <a:cs typeface="+mj-lt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71600" y="5867400"/>
            <a:ext cx="944849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ctr"/>
            <a:r>
              <a:rPr lang="en-US" sz="1200" b="1" i="0">
                <a:solidFill>
                  <a:schemeClr val="bg1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Team 20 - Meaning is Everything</a:t>
            </a:r>
            <a:endParaRPr lang="en-US" sz="1200" b="1" i="0">
              <a:solidFill>
                <a:schemeClr val="bg1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8174355" y="-1371600"/>
            <a:ext cx="5486400" cy="5486400"/>
          </a:xfrm>
          <a:prstGeom prst="ellipse">
            <a:avLst/>
          </a:prstGeom>
          <a:solidFill>
            <a:srgbClr val="9333EA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项目背景</a:t>
            </a:r>
            <a:r>
              <a:rPr lang="zh-CN"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（</a:t>
            </a:r>
            <a:r>
              <a:rPr lang="zh-CN"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用户痛点）</a:t>
            </a:r>
            <a:endParaRPr lang="zh-CN"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28395"/>
            <a:ext cx="106984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chemeClr val="bg1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高精确度场景中，</a:t>
            </a:r>
            <a:endParaRPr sz="3200" i="0">
              <a:solidFill>
                <a:schemeClr val="bg1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/>
            <a:r>
              <a:rPr lang="zh-CN"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普通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LLM 的</a:t>
            </a:r>
            <a:r>
              <a:rPr lang="zh-CN"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输出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看似合理</a:t>
            </a:r>
            <a:r>
              <a:rPr lang="zh-CN"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，但经不起推敲</a:t>
            </a:r>
            <a:endParaRPr lang="zh-CN" sz="3200" i="0">
              <a:solidFill>
                <a:srgbClr val="EC4899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376805"/>
            <a:ext cx="10698480" cy="93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财务报表、网络安全、企业合规、信贷审批等场景，对输出的正确性要求极高——一处数据错误、一条违规</a:t>
            </a:r>
            <a:endParaRPr sz="150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  <a:p>
            <a:pPr algn="l">
              <a:lnSpc>
                <a:spcPct val="135000"/>
              </a:lnSpc>
            </a:pPr>
            <a:r>
              <a:rPr sz="150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判断，都可能造成实际损失。但当前 LLM 的输出依赖统计概率，看起来流畅、专业，却经不起逐条推敲：</a:t>
            </a:r>
            <a:endParaRPr sz="150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  <a:p>
            <a:pPr algn="l">
              <a:lnSpc>
                <a:spcPct val="135000"/>
              </a:lnSpc>
            </a:pPr>
            <a:r>
              <a:rPr sz="150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它可能算错一个比率、漏看一处不平衡、忽略只有这家企业才有的“潜规则”。</a:t>
            </a:r>
            <a:endParaRPr sz="150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3456305" cy="219456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027170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单条记录看似正常</a:t>
            </a:r>
            <a:endParaRPr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4621530"/>
            <a:ext cx="2926080" cy="7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孤立看每一条数据/语句都没问题，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但跨字段、跨指标的逻辑关系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被忽略（例如资产≠负债+权益）。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43730" y="3703320"/>
            <a:ext cx="3456305" cy="219456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8303" y="4027170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通用规则覆盖不到企业特例</a:t>
            </a:r>
            <a:endParaRPr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18303" y="4621530"/>
            <a:ext cx="2926080" cy="7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行业通用规则能挡住“标准错误”，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但挡不住“这家公司历史执行口径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与书面制度不一致”的特例。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56575" y="3703320"/>
            <a:ext cx="3456305" cy="219456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0767" y="4027170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人工复核成本高、滞后</a:t>
            </a:r>
            <a:endParaRPr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30767" y="4621530"/>
            <a:ext cx="2926080" cy="7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依赖人工逐条核对报告/日志，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效率低、易遗漏，且问题往往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在事后才被发现。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2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7069455" y="1708150"/>
            <a:ext cx="6845300" cy="6845300"/>
          </a:xfrm>
          <a:prstGeom prst="ellipse">
            <a:avLst/>
          </a:prstGeom>
          <a:solidFill>
            <a:srgbClr val="9333EA">
              <a:alpha val="12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我们的解决方案</a:t>
            </a:r>
            <a:endParaRPr lang="zh-CN"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44880"/>
            <a:ext cx="106984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i="0">
                <a:solidFill>
                  <a:schemeClr val="bg1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Netnomous-forge,</a:t>
            </a:r>
            <a:endParaRPr sz="3200" i="0">
              <a:solidFill>
                <a:schemeClr val="bg1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/>
            <a:r>
              <a:rPr sz="3200" i="0">
                <a:solidFill>
                  <a:schemeClr val="bg1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让 LLM 生成的报告与数据零违规。</a:t>
            </a:r>
            <a:endParaRPr sz="3200" i="0">
              <a:solidFill>
                <a:schemeClr val="bg1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39620"/>
            <a:ext cx="10698480" cy="692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NetNomous-forge 是一个嵌入在 LLM/Agent 之上的规则执行</a:t>
            </a:r>
            <a:r>
              <a:rPr lang="zh-CN"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插件</a:t>
            </a: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。它不改动模型权重,而是分三步工作:从企业历史数据中自动学习可解释规则,经语义过滤筛选确认,再基于 SMT 求解器(Z3)在生成阶段对输出做实时约束。</a:t>
            </a:r>
            <a:endParaRPr sz="1500" b="1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981325"/>
            <a:ext cx="5257800" cy="3085465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178175"/>
            <a:ext cx="45720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裸模型</a:t>
            </a:r>
            <a:endParaRPr sz="14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3580765"/>
            <a:ext cx="4617720" cy="739775"/>
          </a:xfrm>
          <a:prstGeom prst="roundRect">
            <a:avLst>
              <a:gd name="adj" fmla="val 8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3665220"/>
            <a:ext cx="420624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i="0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“净利润125万元，各项明细数据无误，</a:t>
            </a:r>
            <a:endParaRPr sz="1300" i="0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25000"/>
              </a:lnSpc>
            </a:pPr>
            <a:r>
              <a:rPr sz="1300" i="0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财务结构稳健，可以提交。”</a:t>
            </a:r>
            <a:endParaRPr sz="1300" i="0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4457700"/>
            <a:ext cx="4617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看似没有问题，已直接给出“可提交”结论</a:t>
            </a:r>
            <a:endParaRPr sz="1200" i="1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51560" y="4960620"/>
            <a:ext cx="4617720" cy="923290"/>
          </a:xfrm>
          <a:prstGeom prst="roundRect">
            <a:avLst>
              <a:gd name="adj" fmla="val 8000"/>
            </a:avLst>
          </a:prstGeom>
          <a:solidFill>
            <a:srgbClr val="2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5143500"/>
            <a:ext cx="420624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FCA5A5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⚠️ 风险：未发现资产负债不平衡、毛利率</a:t>
            </a:r>
            <a:endParaRPr sz="1250" i="0">
              <a:solidFill>
                <a:srgbClr val="FCA5A5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FCA5A5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异常等深层问题，错误结论直接流转到下一环节。</a:t>
            </a:r>
            <a:endParaRPr sz="1250" i="0">
              <a:solidFill>
                <a:srgbClr val="FCA5A5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505" y="2981325"/>
            <a:ext cx="5257800" cy="3085465"/>
          </a:xfrm>
          <a:prstGeom prst="roundRect">
            <a:avLst>
              <a:gd name="adj" fmla="val 6000"/>
            </a:avLst>
          </a:prstGeom>
          <a:solidFill>
            <a:srgbClr val="1B233B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3178175"/>
            <a:ext cx="47548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接入 NetNomous-forge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19545" y="3580765"/>
            <a:ext cx="4617720" cy="739775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48272" y="3665220"/>
            <a:ext cx="420624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“净利润125万元，但资产负债不平，</a:t>
            </a:r>
            <a:endParaRPr sz="13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25000"/>
              </a:lnSpc>
            </a:pPr>
            <a:r>
              <a:rPr sz="13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差额8万元，疑似数据问题，建议核查后再提交。”</a:t>
            </a:r>
            <a:endParaRPr sz="13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9672" y="4457700"/>
            <a:ext cx="4617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86EFAC"/>
                </a:solidFill>
                <a:latin typeface="阿里妈妈数黑体" charset="-122"/>
                <a:ea typeface="阿里妈妈数黑体" charset="-122"/>
              </a:rPr>
              <a:t>生成阶段即被规则约束，主动指出问题</a:t>
            </a:r>
            <a:endParaRPr sz="1200" i="1">
              <a:solidFill>
                <a:srgbClr val="86EFA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19545" y="4960620"/>
            <a:ext cx="4617720" cy="923290"/>
          </a:xfrm>
          <a:prstGeom prst="roundRect">
            <a:avLst>
              <a:gd name="adj" fmla="val 8000"/>
            </a:avLst>
          </a:prstGeom>
          <a:solidFill>
            <a:srgbClr val="14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48272" y="5143500"/>
            <a:ext cx="420624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命中规则 R-BAL（资产=负债+权益）</a:t>
            </a:r>
            <a:endParaRPr sz="1250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给出具体差额与定位依据，可直接核查</a:t>
            </a:r>
            <a:endParaRPr sz="1250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6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38960" y="1481455"/>
            <a:ext cx="7315835" cy="7315835"/>
          </a:xfrm>
          <a:prstGeom prst="ellipse">
            <a:avLst/>
          </a:prstGeom>
          <a:solidFill>
            <a:srgbClr val="DC2626">
              <a:alpha val="12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核心理念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19810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chemeClr val="bg1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可信生成 = 统计拟合 + 显式逻辑控制</a:t>
            </a:r>
            <a:endParaRPr sz="3200" i="0">
              <a:solidFill>
                <a:schemeClr val="bg1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27835"/>
            <a:ext cx="1069848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NetNomous-forge 不改动模型权重，而是在 LLM/Agent 之上增加一层“规则执行层”（Constraint Enforcement Layer）。</a:t>
            </a:r>
            <a:endParaRPr sz="1500" b="1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它分三个阶段工作，把“规则从数据中学出来”和“规则在生成时被强制执行”两件事打通。</a:t>
            </a:r>
            <a:endParaRPr sz="1500" b="1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938780" cy="32004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840" y="3017520"/>
            <a:ext cx="137160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01</a:t>
            </a:r>
            <a:endParaRPr sz="30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2840" y="3611880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规则学习</a:t>
            </a:r>
            <a:endParaRPr sz="18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2840" y="3977639"/>
            <a:ext cx="292608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1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Rule Learning</a:t>
            </a:r>
            <a:endParaRPr sz="1100" i="1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2840" y="4434840"/>
            <a:ext cx="2017395" cy="958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基于一阶逻辑(FOL)语法 + hitting-set搜索，从“正常/已通过”的历史数据中自动归纳出可解释规则。</a:t>
            </a:r>
            <a:endParaRPr sz="120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4059047" y="4206240"/>
            <a:ext cx="274320" cy="365760"/>
          </a:xfrm>
          <a:prstGeom prst="chevron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581525" y="2788920"/>
            <a:ext cx="3304540" cy="3200400"/>
            <a:chOff x="6684" y="4392"/>
            <a:chExt cx="5204" cy="5040"/>
          </a:xfrm>
        </p:grpSpPr>
        <p:sp>
          <p:nvSpPr>
            <p:cNvPr id="13" name="Rounded Rectangle 12"/>
            <p:cNvSpPr/>
            <p:nvPr/>
          </p:nvSpPr>
          <p:spPr>
            <a:xfrm>
              <a:off x="6684" y="4392"/>
              <a:ext cx="4628" cy="5040"/>
            </a:xfrm>
            <a:prstGeom prst="roundRect">
              <a:avLst>
                <a:gd name="adj" fmla="val 8000"/>
              </a:avLst>
            </a:prstGeom>
            <a:solidFill>
              <a:srgbClr val="151C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80" y="4752"/>
              <a:ext cx="2160" cy="7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i="0">
                  <a:solidFill>
                    <a:srgbClr val="3A425E"/>
                  </a:solidFill>
                  <a:latin typeface="阿里妈妈数黑体" charset="-122"/>
                  <a:ea typeface="阿里妈妈数黑体" charset="-122"/>
                </a:rPr>
                <a:t>02</a:t>
              </a:r>
              <a:endParaRPr sz="30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280" y="5688"/>
              <a:ext cx="4608" cy="4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i="0">
                  <a:solidFill>
                    <a:srgbClr val="FFFFFF"/>
                  </a:solidFill>
                  <a:latin typeface="阿里妈妈数黑体" charset="-122"/>
                  <a:ea typeface="阿里妈妈数黑体" charset="-122"/>
                </a:rPr>
                <a:t>语义过滤</a:t>
              </a:r>
              <a:endParaRPr sz="18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80" y="6264"/>
              <a:ext cx="4608" cy="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i="1">
                  <a:solidFill>
                    <a:srgbClr val="737A8C"/>
                  </a:solidFill>
                  <a:latin typeface="阿里妈妈数黑体" charset="-122"/>
                  <a:ea typeface="阿里妈妈数黑体" charset="-122"/>
                </a:rPr>
                <a:t>Semantic Filtering</a:t>
              </a:r>
              <a:endParaRPr sz="1100" i="1">
                <a:solidFill>
                  <a:srgbClr val="737A8C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80" y="6984"/>
              <a:ext cx="4608" cy="11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i="0">
                  <a:solidFill>
                    <a:srgbClr val="9AA3B8"/>
                  </a:solidFill>
                  <a:latin typeface="阿里妈妈数黑体" charset="-122"/>
                  <a:ea typeface="阿里妈妈数黑体" charset="-122"/>
                </a:rPr>
                <a:t>对学习得到的候选规则做语义层</a:t>
              </a:r>
              <a:endParaRPr sz="12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endParaRPr>
            </a:p>
            <a:p>
              <a:pPr algn="l">
                <a:lnSpc>
                  <a:spcPct val="130000"/>
                </a:lnSpc>
              </a:pPr>
              <a:r>
                <a:rPr sz="1200" i="0">
                  <a:solidFill>
                    <a:srgbClr val="9AA3B8"/>
                  </a:solidFill>
                  <a:latin typeface="阿里妈妈数黑体" charset="-122"/>
                  <a:ea typeface="阿里妈妈数黑体" charset="-122"/>
                </a:rPr>
                <a:t>筛选与人工确认，剔除噪声规则，</a:t>
              </a:r>
              <a:endParaRPr sz="12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endParaRPr>
            </a:p>
            <a:p>
              <a:pPr algn="l">
                <a:lnSpc>
                  <a:spcPct val="130000"/>
                </a:lnSpc>
              </a:pPr>
              <a:r>
                <a:rPr sz="1200" i="0">
                  <a:solidFill>
                    <a:srgbClr val="9AA3B8"/>
                  </a:solidFill>
                  <a:latin typeface="阿里妈妈数黑体" charset="-122"/>
                  <a:ea typeface="阿里妈妈数黑体" charset="-122"/>
                </a:rPr>
                <a:t>保留真正有业务意义的约束。</a:t>
              </a:r>
              <a:endParaRPr sz="12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endParaRPr>
            </a:p>
          </p:txBody>
        </p:sp>
      </p:grpSp>
      <p:sp>
        <p:nvSpPr>
          <p:cNvPr id="18" name="Chevron 17"/>
          <p:cNvSpPr/>
          <p:nvPr/>
        </p:nvSpPr>
        <p:spPr>
          <a:xfrm>
            <a:off x="7768336" y="4206240"/>
            <a:ext cx="274320" cy="365760"/>
          </a:xfrm>
          <a:prstGeom prst="chevron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291195" y="2798445"/>
            <a:ext cx="2938780" cy="3200400"/>
            <a:chOff x="12845" y="4392"/>
            <a:chExt cx="4628" cy="5040"/>
          </a:xfrm>
        </p:grpSpPr>
        <p:sp>
          <p:nvSpPr>
            <p:cNvPr id="19" name="Rounded Rectangle 18"/>
            <p:cNvSpPr/>
            <p:nvPr/>
          </p:nvSpPr>
          <p:spPr>
            <a:xfrm>
              <a:off x="12845" y="4392"/>
              <a:ext cx="4628" cy="5040"/>
            </a:xfrm>
            <a:prstGeom prst="roundRect">
              <a:avLst>
                <a:gd name="adj" fmla="val 8000"/>
              </a:avLst>
            </a:prstGeom>
            <a:solidFill>
              <a:srgbClr val="151C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536" y="4773"/>
              <a:ext cx="2160" cy="7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i="0">
                  <a:solidFill>
                    <a:srgbClr val="3A425E"/>
                  </a:solidFill>
                  <a:latin typeface="阿里妈妈数黑体" charset="-122"/>
                  <a:ea typeface="阿里妈妈数黑体" charset="-122"/>
                </a:rPr>
                <a:t>03</a:t>
              </a:r>
              <a:endParaRPr sz="30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536" y="5709"/>
              <a:ext cx="3267" cy="4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i="0">
                  <a:solidFill>
                    <a:srgbClr val="FFFFFF"/>
                  </a:solidFill>
                  <a:latin typeface="阿里妈妈数黑体" charset="-122"/>
                  <a:ea typeface="阿里妈妈数黑体" charset="-122"/>
                </a:rPr>
                <a:t>规则执行</a:t>
              </a:r>
              <a:endParaRPr sz="18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536" y="6285"/>
              <a:ext cx="3267" cy="2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i="1">
                  <a:solidFill>
                    <a:srgbClr val="737A8C"/>
                  </a:solidFill>
                  <a:latin typeface="阿里妈妈数黑体" charset="-122"/>
                  <a:ea typeface="阿里妈妈数黑体" charset="-122"/>
                </a:rPr>
                <a:t>Rule Enforcement</a:t>
              </a:r>
              <a:endParaRPr sz="1100" i="1">
                <a:solidFill>
                  <a:srgbClr val="737A8C"/>
                </a:solidFill>
                <a:latin typeface="阿里妈妈数黑体" charset="-122"/>
                <a:ea typeface="阿里妈妈数黑体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536" y="7005"/>
              <a:ext cx="3268" cy="11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i="0">
                  <a:solidFill>
                    <a:srgbClr val="9AA3B8"/>
                  </a:solidFill>
                  <a:latin typeface="阿里妈妈数黑体" charset="-122"/>
                  <a:ea typeface="阿里妈妈数黑体" charset="-122"/>
                  <a:cs typeface="阿里妈妈数黑体" charset="-122"/>
                </a:rPr>
                <a:t>在生成阶段，基于 SMT 求解器(Z3)对输出做 token 级约束/校验，确保结果满足全部规则。</a:t>
              </a:r>
              <a:endParaRPr sz="12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3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-2743200" y="-2286000"/>
            <a:ext cx="5943600" cy="5943600"/>
          </a:xfrm>
          <a:prstGeom prst="ellipse">
            <a:avLst/>
          </a:prstGeom>
          <a:solidFill>
            <a:srgbClr val="9333EA">
              <a:alpha val="16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95235" y="-1371600"/>
            <a:ext cx="6815455" cy="6815455"/>
          </a:xfrm>
          <a:prstGeom prst="ellipse">
            <a:avLst/>
          </a:prstGeom>
          <a:solidFill>
            <a:srgbClr val="EC4899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11665" y="3383280"/>
            <a:ext cx="5029200" cy="5029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9524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95240" y="418465"/>
            <a:ext cx="201168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100" b="1" i="0">
                <a:solidFill>
                  <a:srgbClr val="C4B5FD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技术原理</a:t>
            </a:r>
            <a:endParaRPr lang="zh-CN" sz="1100" b="1" i="0">
              <a:solidFill>
                <a:srgbClr val="C4B5FD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879475"/>
            <a:ext cx="1036289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让逻辑成为生成模型的控制层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504950"/>
            <a:ext cx="10362895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从历史样本中学习可审计规则，并在推理时逐 token 拦截不合规输出</a:t>
            </a:r>
            <a:endParaRPr sz="12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3485" y="2084832"/>
            <a:ext cx="502920" cy="502920"/>
          </a:xfrm>
          <a:prstGeom prst="ellipse">
            <a:avLst/>
          </a:prstGeom>
          <a:solidFill>
            <a:srgbClr val="9333E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333EA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▦</a:t>
            </a:r>
            <a:endParaRPr sz="2000" b="1" i="0">
              <a:solidFill>
                <a:srgbClr val="9333EA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01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352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数据与语义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" y="3383280"/>
            <a:ext cx="1269187" cy="34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样本·字段·类型·角色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1890979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101291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557576" y="2084832"/>
            <a:ext cx="502920" cy="502920"/>
          </a:xfrm>
          <a:prstGeom prst="ellipse">
            <a:avLst/>
          </a:prstGeom>
          <a:solidFill>
            <a:srgbClr val="9333E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01291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333EA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Γ</a:t>
            </a:r>
            <a:endParaRPr sz="2000" b="1" i="0">
              <a:solidFill>
                <a:srgbClr val="9333EA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01291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02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74443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语法 Γ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4443" y="3383280"/>
            <a:ext cx="1269187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限定谓词搜索空间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3535070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45382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01668" y="2084832"/>
            <a:ext cx="502920" cy="502920"/>
          </a:xfrm>
          <a:prstGeom prst="ellipse">
            <a:avLst/>
          </a:prstGeom>
          <a:solidFill>
            <a:srgbClr val="9333E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5382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9333EA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≡</a:t>
            </a:r>
            <a:endParaRPr sz="2000" b="1" i="0">
              <a:solidFill>
                <a:srgbClr val="9333EA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45382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03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8534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谓词落地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18534" y="3383280"/>
            <a:ext cx="1269187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p0, p1... 支持率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3" name="Chevron 32"/>
          <p:cNvSpPr/>
          <p:nvPr/>
        </p:nvSpPr>
        <p:spPr>
          <a:xfrm>
            <a:off x="5179161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389473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845759" y="2084832"/>
            <a:ext cx="502920" cy="502920"/>
          </a:xfrm>
          <a:prstGeom prst="ellipse">
            <a:avLst/>
          </a:prstGeom>
          <a:solidFill>
            <a:srgbClr val="EC489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89473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C4899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⊕</a:t>
            </a:r>
            <a:endParaRPr sz="2000" b="1" i="0">
              <a:solidFill>
                <a:srgbClr val="EC4899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89473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04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62625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规则学习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62625" y="3383280"/>
            <a:ext cx="1269187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最小 hitting set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40" name="Chevron 39"/>
          <p:cNvSpPr/>
          <p:nvPr/>
        </p:nvSpPr>
        <p:spPr>
          <a:xfrm>
            <a:off x="6823252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033564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489850" y="2084832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3564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⊨</a:t>
            </a:r>
            <a:endParaRPr sz="2000" b="1" i="0">
              <a:solidFill>
                <a:srgbClr val="22D3EE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33564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05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06716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SMT 求解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06716" y="3383280"/>
            <a:ext cx="1269187" cy="34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SAT / UNSAT 可行性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47" name="Chevron 46"/>
          <p:cNvSpPr/>
          <p:nvPr/>
        </p:nvSpPr>
        <p:spPr>
          <a:xfrm>
            <a:off x="8467344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677656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133941" y="2084832"/>
            <a:ext cx="502920" cy="50292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77656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→</a:t>
            </a:r>
            <a:endParaRPr sz="2000" b="1" i="0">
              <a:solidFill>
                <a:srgbClr val="22D3EE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77656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06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50808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逐步解码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50808" y="3383280"/>
            <a:ext cx="1269187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过滤无效 token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54" name="Chevron 53"/>
          <p:cNvSpPr/>
          <p:nvPr/>
        </p:nvSpPr>
        <p:spPr>
          <a:xfrm>
            <a:off x="10111435" y="2788920"/>
            <a:ext cx="192024" cy="274320"/>
          </a:xfrm>
          <a:prstGeom prst="chevron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0321747" y="1920240"/>
            <a:ext cx="1415491" cy="22860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0778032" y="2084832"/>
            <a:ext cx="502920" cy="502920"/>
          </a:xfrm>
          <a:prstGeom prst="ellipse">
            <a:avLst/>
          </a:prstGeom>
          <a:solidFill>
            <a:srgbClr val="86EFA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321747" y="2182622"/>
            <a:ext cx="1415491" cy="307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6EFA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✓</a:t>
            </a:r>
            <a:endParaRPr sz="2000" b="1" i="0">
              <a:solidFill>
                <a:srgbClr val="86EFA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321747" y="2697480"/>
            <a:ext cx="1415491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07</a:t>
            </a:r>
            <a:endParaRPr sz="11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394899" y="2999232"/>
            <a:ext cx="1269187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合规输出</a:t>
            </a:r>
            <a:endParaRPr sz="12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394899" y="3383280"/>
            <a:ext cx="1269187" cy="174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规则合规结果</a:t>
            </a:r>
            <a:endParaRPr sz="9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57200" y="4434840"/>
            <a:ext cx="3637483" cy="12344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13232" y="4690872"/>
            <a:ext cx="146304" cy="146304"/>
          </a:xfrm>
          <a:prstGeom prst="ellipse">
            <a:avLst/>
          </a:prstGeom>
          <a:solidFill>
            <a:srgbClr val="C4B5FD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05840" y="4599431"/>
            <a:ext cx="2905963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规则来自数据</a:t>
            </a:r>
            <a:endParaRPr sz="13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3232" y="4983479"/>
            <a:ext cx="3134563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把样本看作隐藏约束的可行解；先生成候选谓词，再找对所有样本一致的最强规则。</a:t>
            </a:r>
            <a:endParaRPr sz="10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277563" y="4434840"/>
            <a:ext cx="3637483" cy="12344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4533595" y="4690872"/>
            <a:ext cx="146304" cy="146304"/>
          </a:xfrm>
          <a:prstGeom prst="ellipse">
            <a:avLst/>
          </a:prstGeom>
          <a:solidFill>
            <a:srgbClr val="EC489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826203" y="4599431"/>
            <a:ext cx="2905963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规则可审计可替换</a:t>
            </a:r>
            <a:endParaRPr sz="13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33595" y="4983479"/>
            <a:ext cx="3134563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人工/LLM 只筛选已挖出的有效规则 C'；规则更新不需要重新训练模型。</a:t>
            </a:r>
            <a:endParaRPr sz="10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097926" y="4434840"/>
            <a:ext cx="3637483" cy="12344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8353958" y="4690872"/>
            <a:ext cx="146304" cy="146304"/>
          </a:xfrm>
          <a:prstGeom prst="ellipse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646566" y="4599431"/>
            <a:ext cx="2905963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即时逻辑执行</a:t>
            </a:r>
            <a:endParaRPr sz="1350" b="1" i="0">
              <a:solidFill>
                <a:srgbClr val="FFFFFF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353958" y="4983479"/>
            <a:ext cx="3134563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用 Z3/SMT 验证候选值和数字前缀，只放行仍有可行完成路径的 token。</a:t>
            </a:r>
            <a:endParaRPr sz="10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806440"/>
            <a:ext cx="11277295" cy="457200"/>
          </a:xfrm>
          <a:prstGeom prst="roundRect">
            <a:avLst>
              <a:gd name="adj" fmla="val 8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57200" y="5939155"/>
            <a:ext cx="11277295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9AA3B8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核心：统计模型负责“像真实数据”，符号规则负责“必然正确”。</a:t>
            </a:r>
            <a:endParaRPr sz="1250" b="1" i="0">
              <a:solidFill>
                <a:srgbClr val="9AA3B8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NetNomous-forge</a:t>
            </a:r>
            <a:endParaRPr sz="10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737A8C"/>
                </a:solidFill>
                <a:latin typeface="Hiragino Sans GB W6" panose="020B0300000000000000" charset="-122"/>
                <a:ea typeface="Hiragino Sans GB W6" panose="020B0300000000000000" charset="-122"/>
              </a:rPr>
              <a:t>4 / 15</a:t>
            </a:r>
            <a:endParaRPr sz="1000" b="1" i="0">
              <a:solidFill>
                <a:srgbClr val="737A8C"/>
              </a:solidFill>
              <a:latin typeface="Hiragino Sans GB W6" panose="020B0300000000000000" charset="-122"/>
              <a:ea typeface="Hiragino Sans GB W6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9333EA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34110" y="3148965"/>
            <a:ext cx="5486400" cy="5486400"/>
          </a:xfrm>
          <a:prstGeom prst="ellipse">
            <a:avLst/>
          </a:prstGeom>
          <a:solidFill>
            <a:srgbClr val="DC2626">
              <a:alpha val="10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技术基础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035685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核心方法源自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普林斯顿大学</a:t>
            </a:r>
            <a:r>
              <a:rPr lang="zh-CN"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团队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 NSDI 2026 研究成果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NetNomous-forge 的规则学习与执行算法，建立在普林斯顿大学网络系统研究团队发表于 NSDI 2026</a:t>
            </a:r>
            <a:endParaRPr sz="1500" b="1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（USENIX 网络系统设计与实现会议）的研究成果之上——这是网络系统领域的顶级学术会议，论文需经过严格的同行评审。</a:t>
            </a:r>
            <a:endParaRPr sz="1500" b="1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029200" cy="3200400"/>
          </a:xfrm>
          <a:prstGeom prst="roundRect">
            <a:avLst>
              <a:gd name="adj" fmla="val 6000"/>
            </a:avLst>
          </a:prstGeom>
          <a:solidFill>
            <a:srgbClr val="1B233B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457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学术来源</a:t>
            </a:r>
            <a:endParaRPr sz="13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448056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Learning and Enforcing Implicit Business</a:t>
            </a:r>
            <a:endParaRPr sz="16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  <a:p>
            <a:pPr algn="l">
              <a:lnSpc>
                <a:spcPct val="125000"/>
              </a:lnSpc>
            </a:pPr>
            <a:r>
              <a:rPr sz="16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Rules from Single-Class Data</a:t>
            </a:r>
            <a:endParaRPr sz="16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4297680"/>
            <a:ext cx="448056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Princeton University · 网络系统研究团队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448056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NSDI 2026 · USENIX Symposium on Networked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Systems Design and Implementation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51560" y="5440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5524627"/>
            <a:ext cx="1051560" cy="161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NSDI 2026</a:t>
            </a:r>
            <a:endParaRPr sz="105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76272" y="5440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76272" y="5443982"/>
            <a:ext cx="105156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Princeton University</a:t>
            </a:r>
            <a:endParaRPr sz="105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00984" y="5440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0984" y="5524627"/>
            <a:ext cx="1051560" cy="161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形式化方法</a:t>
            </a:r>
            <a:endParaRPr sz="105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25696" y="5440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5696" y="5524627"/>
            <a:ext cx="1051560" cy="161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SMT / Z3</a:t>
            </a:r>
            <a:endParaRPr sz="105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89320" y="2788920"/>
            <a:ext cx="5468112" cy="96012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2926079"/>
            <a:ext cx="493776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形式化规则表示</a:t>
            </a:r>
            <a:endParaRPr sz="145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3242309"/>
            <a:ext cx="493776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采用一阶逻辑(FOL)语法描述规则，每条规则可读、可验证、可审计，而非黑箱权重。</a:t>
            </a:r>
            <a:endParaRPr sz="115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89320" y="3886200"/>
            <a:ext cx="5468112" cy="96012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4023360"/>
            <a:ext cx="493776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算法严谨性</a:t>
            </a:r>
            <a:endParaRPr sz="145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4339590"/>
            <a:ext cx="493776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基于 hitting-set 搜索的规则学习算法，理论上保证学到的规则集合具有最小性与覆盖性。</a:t>
            </a:r>
            <a:endParaRPr sz="115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0" y="4983480"/>
            <a:ext cx="5468112" cy="96012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5120640"/>
            <a:ext cx="493776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执行确定性</a:t>
            </a:r>
            <a:endParaRPr sz="145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5436870"/>
            <a:ext cx="4937760" cy="44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i="0">
                <a:solidFill>
                  <a:srgbClr val="9AA3B8"/>
                </a:solidFill>
                <a:latin typeface="阿里巴巴普惠体 2.0" panose="00020600040101010101" charset="-122"/>
                <a:ea typeface="阿里巴巴普惠体 2.0" panose="00020600040101010101" charset="-122"/>
                <a:cs typeface="阿里巴巴普惠体 2.0" panose="00020600040101010101" charset="-122"/>
              </a:rPr>
              <a:t>通过 SMT 求解器(Z3) 对生成过程做约束求解，保证输出 100% 满足规则，而非“大概率合规”。</a:t>
            </a:r>
            <a:endParaRPr sz="1150" i="0">
              <a:solidFill>
                <a:srgbClr val="9AA3B8"/>
              </a:solidFill>
              <a:latin typeface="阿里巴巴普惠体 2.0" panose="00020600040101010101" charset="-122"/>
              <a:ea typeface="阿里巴巴普惠体 2.0" panose="00020600040101010101" charset="-122"/>
              <a:cs typeface="阿里巴巴普惠体 2.0" panose="0002060004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4 / 13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7106920" y="-1828800"/>
            <a:ext cx="6609080" cy="6609080"/>
          </a:xfrm>
          <a:prstGeom prst="ellipse">
            <a:avLst/>
          </a:prstGeom>
          <a:solidFill>
            <a:srgbClr val="9333EA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技术架构</a:t>
            </a:r>
            <a:endParaRPr sz="1400" b="1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嵌入式约束层：规则与模型解耦</a:t>
            </a:r>
            <a:endParaRPr sz="30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NetNomous-forge 以 API/中间层形式接入既有 LLM / Agent 应用，不需要重新训练或微调底层模型，</a:t>
            </a:r>
            <a:endParaRPr sz="1500" b="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规则包独立维护、随时更新，与模型版本完全解耦。</a:t>
            </a:r>
            <a:endParaRPr sz="1500" b="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66847" y="2514600"/>
            <a:ext cx="6858000" cy="82296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6847" y="251460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LLM / Agent 应用</a:t>
            </a:r>
            <a:endParaRPr sz="1800" b="1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5958687" y="3383280"/>
            <a:ext cx="274320" cy="320040"/>
          </a:xfrm>
          <a:prstGeom prst="downArrow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66847" y="3749039"/>
            <a:ext cx="6858000" cy="1600200"/>
          </a:xfrm>
          <a:prstGeom prst="roundRect">
            <a:avLst>
              <a:gd name="adj" fmla="val 6000"/>
            </a:avLst>
          </a:prstGeom>
          <a:solidFill>
            <a:srgbClr val="1B233B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6847" y="388620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8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66847" y="427024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Constraint Enforcement Layer</a:t>
            </a:r>
            <a:endParaRPr sz="1100" b="0" i="1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15487" y="466344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15487" y="470916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标准规则包</a:t>
            </a:r>
            <a:endParaRPr sz="1100" b="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预置规则·开箱即用</a:t>
            </a:r>
            <a:endParaRPr sz="1100" b="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8727" y="466344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78727" y="470916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自定义规则包</a:t>
            </a:r>
            <a:endParaRPr sz="11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从企业数据自学习</a:t>
            </a:r>
            <a:endParaRPr sz="11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5958687" y="5422392"/>
            <a:ext cx="274320" cy="320040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66847" y="5806440"/>
            <a:ext cx="6858000" cy="566928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DC2626"/>
              </a:gs>
              <a:gs pos="100000">
                <a:srgbClr val="9333E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66847" y="5806440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零违规的数据与报告</a:t>
            </a:r>
            <a:endParaRPr sz="16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b="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4 / 11</a:t>
            </a:r>
            <a:endParaRPr sz="1000" b="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7121525" y="2622550"/>
            <a:ext cx="6365875" cy="6365875"/>
          </a:xfrm>
          <a:prstGeom prst="ellipse">
            <a:avLst/>
          </a:prstGeom>
          <a:solidFill>
            <a:srgbClr val="9333EA">
              <a:alpha val="12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产品系统架构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44575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四层产品能力，产品闭环清楚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19580"/>
            <a:ext cx="10698480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用户只需按场景选择、上传资料、查看规则、运行核查、下载报告；规则学习与 SMT 约束在底层完成，</a:t>
            </a:r>
            <a:endParaRPr sz="13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3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服务于用户流程，而非成为用户需要理解的对象。</a:t>
            </a:r>
            <a:endParaRPr sz="13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5912" cy="8686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10896" cy="310896"/>
          </a:xfrm>
          <a:prstGeom prst="ellipse">
            <a:avLst/>
          </a:prstGeom>
          <a:solidFill>
            <a:srgbClr val="9333E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642616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用户工作台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999232"/>
            <a:ext cx="329184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用户选择场景、上传资料、查看规则与报告</a:t>
            </a:r>
            <a:endParaRPr sz="11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74920" y="27706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869057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场景选择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79" y="27706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79" y="2869057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资料上传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92440" y="27706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2869057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规则预览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01200" y="277063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0" y="2869057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报告下载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1520" y="3502152"/>
            <a:ext cx="10725912" cy="8686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120" y="3776472"/>
            <a:ext cx="310896" cy="310896"/>
          </a:xfrm>
          <a:prstGeom prst="ellipse">
            <a:avLst/>
          </a:prstGeom>
          <a:solidFill>
            <a:srgbClr val="9333E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8760" y="363016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流程编排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3986784"/>
            <a:ext cx="329184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把长任务拆成可观察的阶段：A/B 双轨对比</a:t>
            </a:r>
            <a:endParaRPr sz="110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74920" y="37581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4920" y="3856609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上传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79" y="37581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79" y="3856609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规则核查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92440" y="37581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92440" y="3856609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A/B双轨对比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01200" y="375818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0" y="3856609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下载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31520" y="4489704"/>
            <a:ext cx="10725912" cy="8686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60120" y="4764024"/>
            <a:ext cx="310896" cy="310896"/>
          </a:xfrm>
          <a:prstGeom prst="ellipse">
            <a:avLst/>
          </a:prstGeom>
          <a:solidFill>
            <a:srgbClr val="9333E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8760" y="4617720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规则治理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08760" y="4974336"/>
            <a:ext cx="329184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把领域规则变成可读、可查、可执行的资产</a:t>
            </a:r>
            <a:endParaRPr sz="11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74920" y="474573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74920" y="4844161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规则卡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79" y="474573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79" y="4844161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违规清单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92440" y="474573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092440" y="4844161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修正建议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601200" y="474573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0" y="4844161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受控问答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31520" y="5477256"/>
            <a:ext cx="10725912" cy="8686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960120" y="5751576"/>
            <a:ext cx="310896" cy="310896"/>
          </a:xfrm>
          <a:prstGeom prst="ellipse">
            <a:avLst/>
          </a:prstGeom>
          <a:solidFill>
            <a:srgbClr val="9333E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08760" y="5605272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报告产物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08760" y="5961888"/>
            <a:ext cx="329184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把结果交付给业务用户，可解释可追溯</a:t>
            </a:r>
            <a:endParaRPr sz="11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074920" y="5733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74920" y="5831713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A轨风险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583679" y="5733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83679" y="5831713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B轨合规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092440" y="5733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92440" y="5831713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差异标红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601200" y="5733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601200" y="5831713"/>
            <a:ext cx="141732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干预日志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5 / 13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用户使用旅程</a:t>
            </a:r>
            <a:endParaRPr sz="1400" b="1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38225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六步旅程，</a:t>
            </a:r>
            <a:r>
              <a:rPr lang="zh-CN"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从接入到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交付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不要求用户理解底层推理细节，只要按步骤完成资料接入、规则核查、报告对比和下载。</a:t>
            </a:r>
            <a:endParaRPr sz="15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01</a:t>
            </a:r>
            <a:endParaRPr sz="2000" b="1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选择场景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财务审阅或网络核查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82012" y="3099816"/>
            <a:ext cx="164592" cy="18288"/>
          </a:xfrm>
          <a:prstGeom prst="rect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46604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75204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6EFAC"/>
                </a:solidFill>
                <a:latin typeface="阿里妈妈数黑体" charset="-122"/>
                <a:ea typeface="阿里妈妈数黑体" charset="-122"/>
              </a:rPr>
              <a:t>02</a:t>
            </a:r>
            <a:endParaRPr sz="2000" b="1" i="0">
              <a:solidFill>
                <a:srgbClr val="86EFA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5204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上传资料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5204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把待核查资料交给系统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97096" y="3099816"/>
            <a:ext cx="164592" cy="18288"/>
          </a:xfrm>
          <a:prstGeom prst="rect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61688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0288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03</a:t>
            </a:r>
            <a:endParaRPr sz="2000" b="1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0288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查看规则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0288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规则卡解释检查口径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12179" y="3099816"/>
            <a:ext cx="164592" cy="18288"/>
          </a:xfrm>
          <a:prstGeom prst="rect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6771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5371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CA5A5"/>
                </a:solidFill>
                <a:latin typeface="阿里妈妈数黑体" charset="-122"/>
                <a:ea typeface="阿里妈妈数黑体" charset="-122"/>
              </a:rPr>
              <a:t>04</a:t>
            </a:r>
            <a:endParaRPr sz="2000" b="1" i="0">
              <a:solidFill>
                <a:srgbClr val="FCA5A5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5371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运行核查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5371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输出违规清单与原因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27263" y="3099816"/>
            <a:ext cx="164592" cy="18288"/>
          </a:xfrm>
          <a:prstGeom prst="rect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91855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0455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6EFAC"/>
                </a:solidFill>
                <a:latin typeface="阿里妈妈数黑体" charset="-122"/>
                <a:ea typeface="阿里妈妈数黑体" charset="-122"/>
              </a:rPr>
              <a:t>05</a:t>
            </a:r>
            <a:endParaRPr sz="2000" b="1" i="0">
              <a:solidFill>
                <a:srgbClr val="86EFA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0455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生成报告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0455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A/B 结果并排对比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42347" y="3099816"/>
            <a:ext cx="164592" cy="18288"/>
          </a:xfrm>
          <a:prstGeom prst="rect">
            <a:avLst/>
          </a:prstGeom>
          <a:solidFill>
            <a:srgbClr val="2A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806939" y="2423160"/>
            <a:ext cx="1650492" cy="137160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35539" y="2587752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阿里妈妈数黑体" charset="-122"/>
                <a:ea typeface="阿里妈妈数黑体" charset="-122"/>
              </a:rPr>
              <a:t>06</a:t>
            </a:r>
            <a:endParaRPr sz="2000" b="1" i="0">
              <a:solidFill>
                <a:srgbClr val="FBBF24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35539" y="3017520"/>
            <a:ext cx="12847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下载产物</a:t>
            </a:r>
            <a:endParaRPr sz="1400" b="1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35539" y="3383280"/>
            <a:ext cx="12847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报告与证据链可交付</a:t>
            </a:r>
            <a:endParaRPr sz="100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31520" y="416052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2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1560" y="4389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A 轨：直接输出</a:t>
            </a:r>
            <a:endParaRPr sz="1300" b="1" i="0">
              <a:solidFill>
                <a:srgbClr val="FCA5A5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" y="4800600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展示如果没有规则治理，模型可能会把问题数字或</a:t>
            </a:r>
            <a:endParaRPr sz="125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违规记录写进最终结论。</a:t>
            </a:r>
            <a:endParaRPr sz="125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99632" y="416052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4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9672" y="4389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B 轨：规则约束输出</a:t>
            </a:r>
            <a:endParaRPr sz="1300" b="1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19672" y="4800600"/>
            <a:ext cx="4617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展示先核查、再修正或约束生成后，报告如何变得</a:t>
            </a:r>
            <a:endParaRPr sz="125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可解释、可追溯。</a:t>
            </a:r>
            <a:endParaRPr sz="1250" b="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b="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37A8C"/>
                </a:solidFill>
                <a:latin typeface="Calibri" panose="020F0502020204030204"/>
              </a:rPr>
              <a:t>7 / 15</a:t>
            </a:r>
            <a:endParaRPr sz="1000" b="0" i="0">
              <a:solidFill>
                <a:srgbClr val="737A8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8494395" y="-1828800"/>
            <a:ext cx="5486400" cy="5486400"/>
          </a:xfrm>
          <a:prstGeom prst="ellipse">
            <a:avLst/>
          </a:prstGeom>
          <a:solidFill>
            <a:srgbClr val="9333EA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2835275"/>
            <a:ext cx="7223125" cy="7223125"/>
          </a:xfrm>
          <a:prstGeom prst="ellipse">
            <a:avLst/>
          </a:prstGeom>
          <a:solidFill>
            <a:srgbClr val="DC2626">
              <a:alpha val="10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54864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场景演示 · 财务报表生成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998855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同一份数据，三种规则配置下的报告摘要</a:t>
            </a:r>
            <a:endParaRPr sz="32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572000" cy="77724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9144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我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2062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帮我整理这份Q1财报数据，并生成一段可提交的报告摘要。</a:t>
            </a:r>
            <a:endParaRPr sz="125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3511296" cy="3200400"/>
          </a:xfrm>
          <a:prstGeom prst="roundRect">
            <a:avLst>
              <a:gd name="adj" fmla="val 5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035808"/>
            <a:ext cx="305409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A轨 · 裸模型</a:t>
            </a:r>
            <a:endParaRPr sz="13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3054096" cy="68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毛利率达 65%，较上季度显著提升；所有者权益 13,200 千元，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结构稳健，建议直接提交。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3054096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i="0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两处数据均有误，但裸模型未发现，直接给出“可提交”结论。</a:t>
            </a:r>
            <a:endParaRPr sz="1050" i="0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840" y="2834640"/>
            <a:ext cx="3511296" cy="3200400"/>
          </a:xfrm>
          <a:prstGeom prst="roundRect">
            <a:avLst>
              <a:gd name="adj" fmla="val 5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3035808"/>
            <a:ext cx="305409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NetNomous-forge · 标准规则包</a:t>
            </a:r>
            <a:endParaRPr sz="13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3657600"/>
            <a:ext cx="3054096" cy="68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毛利率 65%，较上季度显著提升；所有者权益已修正为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12,900 千元，资产负债关系平衡，建议提交。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5212080"/>
            <a:ext cx="3054096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命中规则 R-BAL，修正所有者权益；但毛利率是否合理——通用规则未覆盖。</a:t>
            </a:r>
            <a:endParaRPr sz="10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38159" y="2834640"/>
            <a:ext cx="3511296" cy="3200400"/>
          </a:xfrm>
          <a:prstGeom prst="roundRect">
            <a:avLst>
              <a:gd name="adj" fmla="val 5000"/>
            </a:avLst>
          </a:prstGeom>
          <a:solidFill>
            <a:srgbClr val="1B233B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59" y="3035808"/>
            <a:ext cx="305409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NetNomous-forge · 自学习规则包</a:t>
            </a:r>
            <a:endParaRPr sz="130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59" y="3657600"/>
            <a:ext cx="3054096" cy="918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毛利率 65%，处于该行业历史区间(60%~65%)上限，需关注；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0000"/>
              </a:lnSpc>
            </a:pPr>
            <a:r>
              <a:rPr sz="11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所有者权益已修正为 12,900 千元，建议提交并留意毛利率波动。</a:t>
            </a:r>
            <a:endParaRPr sz="11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66759" y="5212080"/>
            <a:ext cx="3054096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命中规则 R-BAL；★ 毛利率处于历史区间上限，命中专属规则 C05。</a:t>
            </a:r>
            <a:endParaRPr sz="105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69848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i="1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数据源 · 合成财务报表 960 行 · 3 行业（咨询/零售/制造）× 40 公司 × 8 报告期</a:t>
            </a:r>
            <a:endParaRPr sz="1050" i="1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7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667510" y="-1904365"/>
            <a:ext cx="6335395" cy="6335395"/>
          </a:xfrm>
          <a:prstGeom prst="ellipse">
            <a:avLst/>
          </a:prstGeom>
          <a:solidFill>
            <a:srgbClr val="DC2626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产品形态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38225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两种模式，按需选择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标准版回答“符合行业标准吗？”；企业版回答“符合你的标准吗？”——两者互为替代而非叠加。</a:t>
            </a:r>
            <a:endParaRPr sz="150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257800" cy="38404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标准版 · 开箱即用</a:t>
            </a:r>
            <a:endParaRPr sz="20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5720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无需训练 · 即插即用</a:t>
            </a:r>
            <a:endParaRPr sz="1200" i="1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53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基于行业通用规则预先编写并验证好的规则包，接入即可生效。</a:t>
            </a:r>
            <a:endParaRPr sz="13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  <a:p>
            <a:pPr algn="l">
              <a:lnSpc>
                <a:spcPct val="135000"/>
              </a:lnSpc>
            </a:pPr>
            <a:r>
              <a:rPr sz="13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覆盖常见的会计核算关系、协议规范、合规底线等通用问题。</a:t>
            </a:r>
            <a:endParaRPr sz="13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部署快，成本低</a:t>
            </a:r>
            <a:endParaRPr sz="1250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✓ 覆盖行业通用风险点</a:t>
            </a:r>
            <a:endParaRPr sz="1250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544068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适合：刚起步、规则相对标准的团队</a:t>
            </a:r>
            <a:endParaRPr sz="125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2423160"/>
            <a:ext cx="5257800" cy="3840480"/>
          </a:xfrm>
          <a:prstGeom prst="roundRect">
            <a:avLst>
              <a:gd name="adj" fmla="val 6000"/>
            </a:avLst>
          </a:prstGeom>
          <a:solidFill>
            <a:srgbClr val="1B233B"/>
          </a:solidFill>
          <a:ln w="127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287000" y="26060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7000" y="2686177"/>
            <a:ext cx="100584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★ 推荐</a:t>
            </a:r>
            <a:endParaRPr sz="11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9672" y="2697480"/>
            <a:ext cx="4572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企业版 · 自学习规则</a:t>
            </a:r>
            <a:endParaRPr sz="20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9672" y="3154680"/>
            <a:ext cx="45720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1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从企业自身历史数据中学习专属规则</a:t>
            </a:r>
            <a:endParaRPr sz="1200" i="1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3611880"/>
            <a:ext cx="466344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上传企业自身的历史报表/日志数据，自动学习只属于这家企业的</a:t>
            </a:r>
            <a:endParaRPr sz="130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l">
              <a:lnSpc>
                <a:spcPct val="135000"/>
              </a:lnSpc>
            </a:pPr>
            <a:r>
              <a:rPr sz="130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执行口径与波动区间，经人工确认后生成专属规则包。</a:t>
            </a:r>
            <a:endParaRPr sz="130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9672" y="461772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★ 命中通用规则覆盖不到的企业特例</a:t>
            </a:r>
            <a:endParaRPr sz="125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9672" y="502920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C4B5FD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★ 规则贴合实际执行口径，而非纸面制度</a:t>
            </a:r>
            <a:endParaRPr sz="1250" i="0">
              <a:solidFill>
                <a:srgbClr val="C4B5FD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9672" y="5440680"/>
            <a:ext cx="466344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适合：有历史数据积累、希望规则贴合自身业务的团队</a:t>
            </a:r>
            <a:endParaRPr sz="125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5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7269480" y="1637665"/>
            <a:ext cx="6934200" cy="6934200"/>
          </a:xfrm>
          <a:prstGeom prst="ellipse">
            <a:avLst/>
          </a:prstGeom>
          <a:solidFill>
            <a:srgbClr val="DC2626">
              <a:alpha val="12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57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商业化路径</a:t>
            </a:r>
            <a:endParaRPr sz="14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09980"/>
            <a:ext cx="106984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i="0">
                <a:solidFill>
                  <a:schemeClr val="bg1"/>
                </a:solidFill>
                <a:latin typeface="阿里妈妈数黑体" charset="-122"/>
                <a:ea typeface="阿里妈妈数黑体" charset="-122"/>
              </a:rPr>
              <a:t>从核心引擎到规则生态：</a:t>
            </a:r>
            <a:r>
              <a:rPr sz="3200" i="0">
                <a:solidFill>
                  <a:srgbClr val="EC4899"/>
                </a:solidFill>
                <a:latin typeface="阿里妈妈数黑体" charset="-122"/>
                <a:ea typeface="阿里妈妈数黑体" charset="-122"/>
              </a:rPr>
              <a:t>五层落地路径</a:t>
            </a:r>
            <a:endParaRPr sz="3200" i="0">
              <a:solidFill>
                <a:srgbClr val="EC4899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330450"/>
            <a:ext cx="7315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01</a:t>
            </a:r>
            <a:endParaRPr sz="18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235362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核心引擎 API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2372995"/>
            <a:ext cx="5029200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面向开发者的约束执行接口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29800" y="228600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29800" y="2384425"/>
            <a:ext cx="15087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86EFAC"/>
                </a:solidFill>
                <a:latin typeface="阿里妈妈数黑体" charset="-122"/>
                <a:ea typeface="阿里妈妈数黑体" charset="-122"/>
              </a:rPr>
              <a:t>已实现</a:t>
            </a:r>
            <a:endParaRPr sz="1100" i="0">
              <a:solidFill>
                <a:srgbClr val="86EFA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061970"/>
            <a:ext cx="7315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02</a:t>
            </a:r>
            <a:endParaRPr sz="18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308514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标准规则包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104515"/>
            <a:ext cx="5029200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覆盖通用行业规则，即插即用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29800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29800" y="3115945"/>
            <a:ext cx="15087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86EFAC"/>
                </a:solidFill>
                <a:latin typeface="阿里妈妈数黑体" charset="-122"/>
                <a:ea typeface="阿里妈妈数黑体" charset="-122"/>
              </a:rPr>
              <a:t>已实现</a:t>
            </a:r>
            <a:endParaRPr sz="1100" i="0">
              <a:solidFill>
                <a:srgbClr val="86EFA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793490"/>
            <a:ext cx="7315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03</a:t>
            </a:r>
            <a:endParaRPr sz="18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37360" y="381666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自定义规则学习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3836035"/>
            <a:ext cx="5029200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基于企业数据训练专属规则包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829800" y="374904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29800" y="3847465"/>
            <a:ext cx="15087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86EFA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已实现/Demo</a:t>
            </a:r>
            <a:endParaRPr sz="1100" i="0">
              <a:solidFill>
                <a:srgbClr val="86EFA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4525010"/>
            <a:ext cx="7315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04</a:t>
            </a:r>
            <a:endParaRPr sz="18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454818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</a:rPr>
              <a:t>企业私有部署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4567555"/>
            <a:ext cx="5029200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私有化部署 + 规则集中管理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829800" y="448056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29800" y="4578985"/>
            <a:ext cx="15087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规划中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507492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5256530"/>
            <a:ext cx="7315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i="0">
                <a:solidFill>
                  <a:srgbClr val="3A425E"/>
                </a:solidFill>
                <a:latin typeface="阿里妈妈数黑体" charset="-122"/>
                <a:ea typeface="阿里妈妈数黑体" charset="-122"/>
              </a:rPr>
              <a:t>05</a:t>
            </a:r>
            <a:endParaRPr sz="1800" i="0">
              <a:solidFill>
                <a:srgbClr val="3A425E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37360" y="5279708"/>
            <a:ext cx="27432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规则市场 / 生态</a:t>
            </a:r>
            <a:endParaRPr sz="1500" i="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5299075"/>
            <a:ext cx="5029200" cy="191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行业规则包共享与交易生态</a:t>
            </a:r>
            <a:endParaRPr sz="125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829800" y="521208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B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829800" y="5310505"/>
            <a:ext cx="15087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i="0">
                <a:solidFill>
                  <a:srgbClr val="C4B5FD"/>
                </a:solidFill>
                <a:latin typeface="阿里妈妈数黑体" charset="-122"/>
                <a:ea typeface="阿里妈妈数黑体" charset="-122"/>
              </a:rPr>
              <a:t>规划中</a:t>
            </a:r>
            <a:endParaRPr sz="1100" i="0">
              <a:solidFill>
                <a:srgbClr val="C4B5FD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725912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i="1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核心引擎与标准规则包面向中小团队即插即用；自学习能力面向有数据积累的企业客户；私有部署与规则生态是长期生态化路径。</a:t>
            </a:r>
            <a:endParaRPr sz="1100" i="1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36576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NetNomous-forge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73152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i="0">
                <a:solidFill>
                  <a:srgbClr val="737A8C"/>
                </a:solidFill>
                <a:latin typeface="阿里妈妈数黑体" charset="-122"/>
                <a:ea typeface="阿里妈妈数黑体" charset="-122"/>
              </a:rPr>
              <a:t>9 / 11</a:t>
            </a:r>
            <a:endParaRPr sz="1000" i="0">
              <a:solidFill>
                <a:srgbClr val="737A8C"/>
              </a:solidFill>
              <a:latin typeface="阿里妈妈数黑体" charset="-122"/>
              <a:ea typeface="阿里妈妈数黑体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2172970" y="-113030"/>
            <a:ext cx="8342630" cy="8342630"/>
          </a:xfrm>
          <a:prstGeom prst="ellipse">
            <a:avLst/>
          </a:prstGeom>
          <a:solidFill>
            <a:srgbClr val="9333EA">
              <a:alpha val="20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7041515" y="2012315"/>
            <a:ext cx="6674485" cy="6674485"/>
          </a:xfrm>
          <a:prstGeom prst="ellipse">
            <a:avLst/>
          </a:prstGeom>
          <a:solidFill>
            <a:srgbClr val="DC2626">
              <a:alpha val="14000"/>
            </a:srgbClr>
          </a:solidFill>
          <a:ln>
            <a:noFill/>
          </a:ln>
          <a:effectLst>
            <a:softEdge rad="635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阿里妈妈数黑体" charset="-122"/>
              <a:ea typeface="阿里妈妈数黑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48495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i="0">
                <a:solidFill>
                  <a:srgbClr val="9AA3B8"/>
                </a:solidFill>
                <a:latin typeface="阿里妈妈数黑体" charset="-122"/>
                <a:ea typeface="阿里妈妈数黑体" charset="-122"/>
              </a:rPr>
              <a:t>地基型产品，多场景复用</a:t>
            </a:r>
            <a:endParaRPr sz="2000" i="0">
              <a:solidFill>
                <a:srgbClr val="9AA3B8"/>
              </a:solidFill>
              <a:latin typeface="阿里妈妈数黑体" charset="-122"/>
              <a:ea typeface="阿里妈妈数黑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2895" cy="1402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>
                <a:solidFill>
                  <a:srgbClr val="FFFFFF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规则与模型解耦</a:t>
            </a:r>
            <a:endParaRPr sz="3800">
              <a:solidFill>
                <a:srgbClr val="FFFFFF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  <a:p>
            <a:pPr algn="ctr">
              <a:lnSpc>
                <a:spcPct val="120000"/>
              </a:lnSpc>
            </a:pPr>
            <a:r>
              <a:rPr sz="3800">
                <a:solidFill>
                  <a:srgbClr val="DC2626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是可信 AI 落地的最后一公里</a:t>
            </a:r>
            <a:endParaRPr sz="3800">
              <a:solidFill>
                <a:srgbClr val="DC2626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4849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i="1">
                <a:solidFill>
                  <a:srgbClr val="737A8C"/>
                </a:solidFill>
                <a:latin typeface="阿里妈妈数黑体" charset="-122"/>
                <a:ea typeface="阿里妈妈数黑体" charset="-122"/>
                <a:cs typeface="阿里妈妈数黑体" charset="-122"/>
              </a:rPr>
              <a:t>NetNomous-forge · 不改模型，只加规则 · 用你的标准拦截幻觉</a:t>
            </a:r>
            <a:endParaRPr sz="1400" i="1">
              <a:solidFill>
                <a:srgbClr val="737A8C"/>
              </a:solidFill>
              <a:latin typeface="阿里妈妈数黑体" charset="-122"/>
              <a:ea typeface="阿里妈妈数黑体" charset="-122"/>
              <a:cs typeface="阿里妈妈数黑体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4001</Words>
  <Application>WPS 演示</Application>
  <PresentationFormat>On-screen Show (4:3)</PresentationFormat>
  <Paragraphs>503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宋体</vt:lpstr>
      <vt:lpstr>汉仪书宋二KW</vt:lpstr>
      <vt:lpstr>微软雅黑</vt:lpstr>
      <vt:lpstr>Arial Unicode MS</vt:lpstr>
      <vt:lpstr>阿里妈妈数黑体</vt:lpstr>
      <vt:lpstr>钉钉进步体</vt:lpstr>
      <vt:lpstr>文道潮黑体</vt:lpstr>
      <vt:lpstr>阿里妈妈方圆体 VF</vt:lpstr>
      <vt:lpstr>阿里巴巴普惠体 2.0</vt:lpstr>
      <vt:lpstr>Hiragino Sans CNS W3</vt:lpstr>
      <vt:lpstr>Calibri</vt:lpstr>
      <vt:lpstr>思源黑体</vt:lpstr>
      <vt:lpstr>猫啃什锦黑</vt:lpstr>
      <vt:lpstr>Hiragino Sans GB W3</vt:lpstr>
      <vt:lpstr>Hiragino Sans GB W6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SophiaG</cp:lastModifiedBy>
  <cp:revision>3</cp:revision>
  <dcterms:created xsi:type="dcterms:W3CDTF">2026-06-14T16:43:53Z</dcterms:created>
  <dcterms:modified xsi:type="dcterms:W3CDTF">2026-06-14T16:43:53Z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C640C6D806FCE6CC13D22E6A49CE3444_43</vt:lpwstr>
  </property>
  <property fmtid="{D5CDD505-2E9C-101B-9397-08002B2CF9AE}" pid="3" name="KSOProductBuildVer">
    <vt:lpwstr>2052-6.0.0.8068</vt:lpwstr>
  </property>
</Properties>
</file>